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aa3c2eb8df4354" /><Relationship Type="http://schemas.openxmlformats.org/officeDocument/2006/relationships/extended-properties" Target="/docProps/app.xml" Id="R2ad531a4a4614826" /><Relationship Type="http://schemas.openxmlformats.org/officeDocument/2006/relationships/officeDocument" Target="/ppt/presentation.xml" Id="R713da52ac306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f3db44746d4afe"/>
  </p:sldMasterIdLst>
  <p:notesMasterIdLst>
    <p:notesMasterId xmlns:r="http://schemas.openxmlformats.org/officeDocument/2006/relationships" r:id="Rdecedad3cd51403a"/>
  </p:notesMasterIdLst>
  <p:sldIdLst>
    <p:sldId xmlns:r="http://schemas.openxmlformats.org/officeDocument/2006/relationships" id="256" r:id="Rbddaf81efc3740d6"/>
    <p:sldId xmlns:r="http://schemas.openxmlformats.org/officeDocument/2006/relationships" id="257" r:id="Rab7111f8adae48df"/>
    <p:sldId xmlns:r="http://schemas.openxmlformats.org/officeDocument/2006/relationships" id="258" r:id="R019829a3af964f18"/>
    <p:sldId xmlns:r="http://schemas.openxmlformats.org/officeDocument/2006/relationships" id="259" r:id="R2065fe0423ae438a"/>
    <p:sldId xmlns:r="http://schemas.openxmlformats.org/officeDocument/2006/relationships" id="260" r:id="Rc97f74e541bd4900"/>
    <p:sldId xmlns:r="http://schemas.openxmlformats.org/officeDocument/2006/relationships" id="261" r:id="Rc3b8173057a741fd"/>
    <p:sldId xmlns:r="http://schemas.openxmlformats.org/officeDocument/2006/relationships" id="262" r:id="R644c22e82b024032"/>
    <p:sldId xmlns:r="http://schemas.openxmlformats.org/officeDocument/2006/relationships" id="263" r:id="Rfdd9c3e3b2af4f44"/>
    <p:sldId xmlns:r="http://schemas.openxmlformats.org/officeDocument/2006/relationships" id="264" r:id="R44fbe32e9a0948a4"/>
    <p:sldId xmlns:r="http://schemas.openxmlformats.org/officeDocument/2006/relationships" id="265" r:id="R11233872c8124885"/>
    <p:sldId xmlns:r="http://schemas.openxmlformats.org/officeDocument/2006/relationships" id="266" r:id="R4615b024a60e4c99"/>
    <p:sldId xmlns:r="http://schemas.openxmlformats.org/officeDocument/2006/relationships" id="267" r:id="Rf9fb77623ddf4651"/>
    <p:sldId xmlns:r="http://schemas.openxmlformats.org/officeDocument/2006/relationships" id="268" r:id="Rb17b550c3af24e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12be67643c49d3" /><Relationship Type="http://schemas.openxmlformats.org/officeDocument/2006/relationships/slideMaster" Target="/ppt/slideMasters/slideMaster1.xml" Id="R82f3db44746d4afe" /><Relationship Type="http://schemas.openxmlformats.org/officeDocument/2006/relationships/notesMaster" Target="/ppt/notesMasters/notesMaster1.xml" Id="Rdecedad3cd51403a" /><Relationship Type="http://schemas.openxmlformats.org/officeDocument/2006/relationships/presProps" Target="/ppt/presProps.xml" Id="R275b5dcb039d4ee4" /><Relationship Type="http://schemas.openxmlformats.org/officeDocument/2006/relationships/tableStyles" Target="/ppt/tableStyles.xml" Id="R3573cdbe16494f7d" /><Relationship Type="http://schemas.openxmlformats.org/officeDocument/2006/relationships/slide" Target="/ppt/slides/slide1.xml" Id="Rbddaf81efc3740d6" /><Relationship Type="http://schemas.openxmlformats.org/officeDocument/2006/relationships/slide" Target="/ppt/slides/slide2.xml" Id="Rab7111f8adae48df" /><Relationship Type="http://schemas.openxmlformats.org/officeDocument/2006/relationships/slide" Target="/ppt/slides/slide3.xml" Id="R019829a3af964f18" /><Relationship Type="http://schemas.openxmlformats.org/officeDocument/2006/relationships/slide" Target="/ppt/slides/slide4.xml" Id="R2065fe0423ae438a" /><Relationship Type="http://schemas.openxmlformats.org/officeDocument/2006/relationships/slide" Target="/ppt/slides/slide5.xml" Id="Rc97f74e541bd4900" /><Relationship Type="http://schemas.openxmlformats.org/officeDocument/2006/relationships/slide" Target="/ppt/slides/slide6.xml" Id="Rc3b8173057a741fd" /><Relationship Type="http://schemas.openxmlformats.org/officeDocument/2006/relationships/slide" Target="/ppt/slides/slide7.xml" Id="R644c22e82b024032" /><Relationship Type="http://schemas.openxmlformats.org/officeDocument/2006/relationships/slide" Target="/ppt/slides/slide8.xml" Id="Rfdd9c3e3b2af4f44" /><Relationship Type="http://schemas.openxmlformats.org/officeDocument/2006/relationships/slide" Target="/ppt/slides/slide9.xml" Id="R44fbe32e9a0948a4" /><Relationship Type="http://schemas.openxmlformats.org/officeDocument/2006/relationships/slide" Target="/ppt/slides/slide10.xml" Id="R11233872c8124885" /><Relationship Type="http://schemas.openxmlformats.org/officeDocument/2006/relationships/slide" Target="/ppt/slides/slide11.xml" Id="R4615b024a60e4c99" /><Relationship Type="http://schemas.openxmlformats.org/officeDocument/2006/relationships/slide" Target="/ppt/slides/slide12.xml" Id="Rf9fb77623ddf4651" /><Relationship Type="http://schemas.openxmlformats.org/officeDocument/2006/relationships/slide" Target="/ppt/slides/slide13.xml" Id="Rb17b550c3af2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ee7ead7d1841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be3952d30f466f" /><Relationship Type="http://schemas.openxmlformats.org/officeDocument/2006/relationships/notesMaster" Target="/ppt/notesMasters/notesMaster1.xml" Id="Rc19282988016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5a0b8ac2b84a70" /><Relationship Type="http://schemas.openxmlformats.org/officeDocument/2006/relationships/notesMaster" Target="/ppt/notesMasters/notesMaster1.xml" Id="Ra0fe981c77c94f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95c1a69a54114" /><Relationship Type="http://schemas.openxmlformats.org/officeDocument/2006/relationships/notesMaster" Target="/ppt/notesMasters/notesMaster1.xml" Id="Ref81ff39c35543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c021bc0730408b" /><Relationship Type="http://schemas.openxmlformats.org/officeDocument/2006/relationships/notesMaster" Target="/ppt/notesMasters/notesMaster1.xml" Id="Re73878e95a844d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68a5d4cd934057" /><Relationship Type="http://schemas.openxmlformats.org/officeDocument/2006/relationships/notesMaster" Target="/ppt/notesMasters/notesMaster1.xml" Id="R8f9953da0917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d80a172f894718" /><Relationship Type="http://schemas.openxmlformats.org/officeDocument/2006/relationships/notesMaster" Target="/ppt/notesMasters/notesMaster1.xml" Id="R7cae43c467f04d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94b4d6e8f44873" /><Relationship Type="http://schemas.openxmlformats.org/officeDocument/2006/relationships/notesMaster" Target="/ppt/notesMasters/notesMaster1.xml" Id="R32f2a61d2ddf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d5a3ad4ad14ade" /><Relationship Type="http://schemas.openxmlformats.org/officeDocument/2006/relationships/notesMaster" Target="/ppt/notesMasters/notesMaster1.xml" Id="R80c5dfc19bed42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3110280e324752" /><Relationship Type="http://schemas.openxmlformats.org/officeDocument/2006/relationships/notesMaster" Target="/ppt/notesMasters/notesMaster1.xml" Id="R3e33b6c109d745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9a402fe2da4251" /><Relationship Type="http://schemas.openxmlformats.org/officeDocument/2006/relationships/notesMaster" Target="/ppt/notesMasters/notesMaster1.xml" Id="R21357e60e0f549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e5da30a8cb4664" /><Relationship Type="http://schemas.openxmlformats.org/officeDocument/2006/relationships/notesMaster" Target="/ppt/notesMasters/notesMaster1.xml" Id="R7446241ffbd248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d5833b8b824f6e" /><Relationship Type="http://schemas.openxmlformats.org/officeDocument/2006/relationships/notesMaster" Target="/ppt/notesMasters/notesMaster1.xml" Id="Rf4db5738845e4e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3c844a5ffe4329" /><Relationship Type="http://schemas.openxmlformats.org/officeDocument/2006/relationships/notesMaster" Target="/ppt/notesMasters/notesMaster1.xml" Id="Rbfbb9202140e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https://www.youtube.com/watch?v=wjZofJX0v4M&amp;t=23s</a:t>
            </a:r>
          </a:p>
          <a:p xmlns:a="http://schemas.openxmlformats.org/drawingml/2006/main">
            <a:r>
              <a:t>- Evidence: ev-001</a:t>
            </a:r>
          </a:p>
          <a:p xmlns:a="http://schemas.openxmlformats.org/drawingml/2006/main">
            <a:r>
              <a:t>- Transcript: tr-00007, tr-00008, tr-00009, tr-00010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https://www.youtube.com/watch?v=wjZofJX0v4M&amp;t=98s</a:t>
            </a:r>
          </a:p>
          <a:p xmlns:a="http://schemas.openxmlformats.org/drawingml/2006/main">
            <a:r>
              <a:t>- Evidence: ev-002</a:t>
            </a:r>
          </a:p>
          <a:p xmlns:a="http://schemas.openxmlformats.org/drawingml/2006/main">
            <a:r>
              <a:t>- Transcript: tr-00026, tr-00027, tr-00030, tr-00033, tr-00034, tr-00035, tr-00044, tr-00045, tr-00046, tr-00047</a:t>
            </a:r>
          </a:p>
          <a:p xmlns:a="http://schemas.openxmlformats.org/drawingml/2006/main">
            <a:r>
              <a:t>- Frame: fr-00012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https://www.youtube.com/watch?v=wjZofJX0v4M&amp;t=183s</a:t>
            </a:r>
          </a:p>
          <a:p xmlns:a="http://schemas.openxmlformats.org/drawingml/2006/main">
            <a:r>
              <a:t>- Evidence: ev-003</a:t>
            </a:r>
          </a:p>
          <a:p xmlns:a="http://schemas.openxmlformats.org/drawingml/2006/main">
            <a:r>
              <a:t>- Transcript: tr-00055, tr-00056, tr-00060, tr-00065, tr-00066, tr-00075, tr-00077, tr-00089, tr-00090, tr-00093, tr-00094, tr-00095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https://www.youtube.com/watch?v=wjZofJX0v4M&amp;t=449s</a:t>
            </a:r>
          </a:p>
          <a:p xmlns:a="http://schemas.openxmlformats.org/drawingml/2006/main">
            <a:r>
              <a:t>- Evidence: ev-004</a:t>
            </a:r>
          </a:p>
          <a:p xmlns:a="http://schemas.openxmlformats.org/drawingml/2006/main">
            <a:r>
              <a:t>- Transcript: tr-00136, tr-00139, tr-00141, tr-00142, tr-00165, tr-00166, tr-00169, tr-00175, tr-00177, tr-00182, tr-00183, tr-00202, tr-00204, tr-00207, tr-00209</a:t>
            </a:r>
          </a:p>
          <a:p xmlns:a="http://schemas.openxmlformats.org/drawingml/2006/main">
            <a:r>
              <a:t>- Frame: fr-00048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https://www.youtube.com/watch?v=wjZofJX0v4M&amp;t=747s</a:t>
            </a:r>
          </a:p>
          <a:p xmlns:a="http://schemas.openxmlformats.org/drawingml/2006/main">
            <a:r>
              <a:t>- Evidence: ev-005</a:t>
            </a:r>
          </a:p>
          <a:p xmlns:a="http://schemas.openxmlformats.org/drawingml/2006/main">
            <a:r>
              <a:t>- Transcript: tr-00211, tr-00212, tr-00214, tr-00215, tr-00220, tr-00221, tr-00222, tr-00223, tr-00224, tr-00225, tr-00230, tr-00234, tr-00235, tr-00298, tr-00299, tr-00301, tr-00303, tr-00304</a:t>
            </a:r>
          </a:p>
          <a:p xmlns:a="http://schemas.openxmlformats.org/drawingml/2006/main">
            <a:r>
              <a:t>- Frame: fr-00051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https://www.youtube.com/watch?v=wjZofJX0v4M&amp;t=861s</a:t>
            </a:r>
          </a:p>
          <a:p xmlns:a="http://schemas.openxmlformats.org/drawingml/2006/main">
            <a:r>
              <a:t>- https://www.youtube.com/watch?v=wjZofJX0v4M&amp;t=927s</a:t>
            </a:r>
          </a:p>
          <a:p xmlns:a="http://schemas.openxmlformats.org/drawingml/2006/main">
            <a:r>
              <a:t>- Evidence: ev-006, ev-007</a:t>
            </a:r>
          </a:p>
          <a:p xmlns:a="http://schemas.openxmlformats.org/drawingml/2006/main">
            <a:r>
              <a:t>- Transcript: tr-00241, tr-00242, tr-00243, tr-00244, tr-00246, tr-00247, tr-00250, tr-00251, tr-00252, tr-00253, tr-00254, tr-00255, tr-00256, tr-00257, tr-00258, tr-00259, tr-00260, tr-00261, tr-00262, tr-00263, tr-00264</a:t>
            </a:r>
          </a:p>
          <a:p xmlns:a="http://schemas.openxmlformats.org/drawingml/2006/main">
            <a:r>
              <a:t>- Frame: fr-00059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https://www.youtube.com/watch?v=wjZofJX0v4M&amp;t=994s</a:t>
            </a:r>
          </a:p>
          <a:p xmlns:a="http://schemas.openxmlformats.org/drawingml/2006/main">
            <a:r>
              <a:t>- Evidence: ev-008</a:t>
            </a:r>
          </a:p>
          <a:p xmlns:a="http://schemas.openxmlformats.org/drawingml/2006/main">
            <a:r>
              <a:t>- Transcript: tr-00277, tr-00278, tr-00279, tr-00280, tr-00281, tr-00282, tr-00283, tr-00284, tr-00285, tr-00287, tr-00288, tr-00289, tr-00290, tr-00291, tr-00292, tr-00293, tr-00294, tr-00295, tr-00296, tr-00297</a:t>
            </a:r>
          </a:p>
          <a:p xmlns:a="http://schemas.openxmlformats.org/drawingml/2006/main">
            <a:r>
              <a:t>- Frame: fr-00063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https://www.youtube.com/watch?v=wjZofJX0v4M&amp;t=1105s</a:t>
            </a:r>
          </a:p>
          <a:p xmlns:a="http://schemas.openxmlformats.org/drawingml/2006/main">
            <a:r>
              <a:t>- Evidence: ev-009</a:t>
            </a:r>
          </a:p>
          <a:p xmlns:a="http://schemas.openxmlformats.org/drawingml/2006/main">
            <a:r>
              <a:t>- Transcript: tr-00307, tr-00308, tr-00311, tr-00312, tr-00313, tr-00314, tr-00315, tr-00316, tr-00317, tr-00319, tr-00320, tr-00321, tr-00322, tr-00323, tr-00324, tr-00325, tr-00326, tr-00327, tr-00328, tr-00329</a:t>
            </a:r>
          </a:p>
          <a:p xmlns:a="http://schemas.openxmlformats.org/drawingml/2006/main">
            <a:r>
              <a:t>- Frame: fr-00069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https://www.youtube.com/watch?v=wjZofJX0v4M&amp;t=1189s</a:t>
            </a:r>
          </a:p>
          <a:p xmlns:a="http://schemas.openxmlformats.org/drawingml/2006/main">
            <a:r>
              <a:t>- Evidence: ev-010</a:t>
            </a:r>
          </a:p>
          <a:p xmlns:a="http://schemas.openxmlformats.org/drawingml/2006/main">
            <a:r>
              <a:t>- Transcript: tr-00330, tr-00331, tr-00332, tr-00333, tr-00334, tr-00335, tr-00336, tr-00337, tr-00338, tr-00339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https://www.youtube.com/watch?v=wjZofJX0v4M&amp;t=1229s</a:t>
            </a:r>
          </a:p>
          <a:p xmlns:a="http://schemas.openxmlformats.org/drawingml/2006/main">
            <a:r>
              <a:t>- Evidence: ev-011</a:t>
            </a:r>
          </a:p>
          <a:p xmlns:a="http://schemas.openxmlformats.org/drawingml/2006/main">
            <a:r>
              <a:t>- Transcript: tr-00342, tr-00343, tr-00344, tr-00345, tr-00346, tr-00348, tr-00349, tr-00350, tr-00351, tr-00352, tr-00353, tr-00354, tr-00358, tr-00359, tr-00360, tr-00363, tr-00364, tr-00365, tr-00366, tr-00367, tr-00368, tr-00369, tr-00370</a:t>
            </a:r>
          </a:p>
          <a:p xmlns:a="http://schemas.openxmlformats.org/drawingml/2006/main">
            <a:r>
              <a:t>- Frame: fr-00079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https://www.youtube.com/watch?v=wjZofJX0v4M&amp;t=1342s</a:t>
            </a:r>
          </a:p>
          <a:p xmlns:a="http://schemas.openxmlformats.org/drawingml/2006/main">
            <a:r>
              <a:t>- Evidence: ev-012</a:t>
            </a:r>
          </a:p>
          <a:p xmlns:a="http://schemas.openxmlformats.org/drawingml/2006/main">
            <a:r>
              <a:t>- Transcript: tr-00377, tr-00378, tr-00379, tr-00380, tr-00381, tr-00382, tr-00383, tr-00384, tr-00385, tr-00386, tr-00388, tr-00389, tr-00390, tr-00391, tr-00392, tr-00393, tr-00394, tr-00395, tr-00396, tr-00397, tr-00398</a:t>
            </a:r>
          </a:p>
          <a:p xmlns:a="http://schemas.openxmlformats.org/drawingml/2006/main">
            <a:r>
              <a:t>- Frame: fr-00084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https://www.youtube.com/watch?v=wjZofJX0v4M&amp;t=1435s</a:t>
            </a:r>
          </a:p>
          <a:p xmlns:a="http://schemas.openxmlformats.org/drawingml/2006/main">
            <a:r>
              <a:t>- Evidence: ev-013</a:t>
            </a:r>
          </a:p>
          <a:p xmlns:a="http://schemas.openxmlformats.org/drawingml/2006/main">
            <a:r>
              <a:t>- Transcript: tr-00399, tr-00400, tr-00401, tr-00402, tr-00403, tr-00404, tr-00405, tr-00406, tr-00407, tr-00408, tr-00409, tr-00410, tr-00411, tr-00412, tr-00413, tr-00414, tr-00415</a:t>
            </a:r>
          </a:p>
          <a:p xmlns:a="http://schemas.openxmlformats.org/drawingml/2006/main">
            <a:r>
              <a:t>- Frame: fr-00087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https://www.youtube.com/watch?v=wjZofJX0v4M&amp;t=1563s</a:t>
            </a:r>
          </a:p>
          <a:p xmlns:a="http://schemas.openxmlformats.org/drawingml/2006/main">
            <a:r>
              <a:t>- Evidence: ev-014</a:t>
            </a:r>
          </a:p>
          <a:p xmlns:a="http://schemas.openxmlformats.org/drawingml/2006/main">
            <a:r>
              <a:t>- Transcript: tr-00430, tr-00431, tr-00432, tr-00433, tr-00434, tr-00435, tr-00436</a:t>
            </a:r>
          </a:p>
          <a:p xmlns:a="http://schemas.openxmlformats.org/drawingml/2006/main">
            <a:r>
              <a:t>- Frame: fr-00092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eeac28d7143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e919422594436c" /><Relationship Type="http://schemas.openxmlformats.org/officeDocument/2006/relationships/slideLayout" Target="/ppt/slideLayouts/slideLayout1.xml" Id="R10da67b4ecb8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da67b4ecb8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ed238ebe74062" /><Relationship Type="http://schemas.openxmlformats.org/officeDocument/2006/relationships/notesSlide" Target="/ppt/notesSlides/notesSlide1.xml" Id="R795f70ebd96242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9ba73a46e41fa" /><Relationship Type="http://schemas.openxmlformats.org/officeDocument/2006/relationships/image" Target="/ppt/media/image.jpeg" Id="R626fc850d04c4ef7" /><Relationship Type="http://schemas.openxmlformats.org/officeDocument/2006/relationships/notesSlide" Target="/ppt/notesSlides/notesSlide2.xml" Id="R49d48728e8b442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13626850049f6" /><Relationship Type="http://schemas.openxmlformats.org/officeDocument/2006/relationships/notesSlide" Target="/ppt/notesSlides/notesSlide3.xml" Id="R125c4761ea81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eab0e16794043" /><Relationship Type="http://schemas.openxmlformats.org/officeDocument/2006/relationships/image" Target="/ppt/media/image2.jpeg" Id="R50d6059dbf3c402d" /><Relationship Type="http://schemas.openxmlformats.org/officeDocument/2006/relationships/notesSlide" Target="/ppt/notesSlides/notesSlide4.xml" Id="R6ed94494f7cd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04220051c4ac1" /><Relationship Type="http://schemas.openxmlformats.org/officeDocument/2006/relationships/image" Target="/ppt/media/image3.jpeg" Id="Rfbd1df826e784ae1" /><Relationship Type="http://schemas.openxmlformats.org/officeDocument/2006/relationships/notesSlide" Target="/ppt/notesSlides/notesSlide5.xml" Id="Re0a7aadb502340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209c994b44edb" /><Relationship Type="http://schemas.openxmlformats.org/officeDocument/2006/relationships/image" Target="/ppt/media/image4.jpeg" Id="R44e9ffb30c6f4283" /><Relationship Type="http://schemas.openxmlformats.org/officeDocument/2006/relationships/notesSlide" Target="/ppt/notesSlides/notesSlide6.xml" Id="R81902445cbe849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85cf1583b43e0" /><Relationship Type="http://schemas.openxmlformats.org/officeDocument/2006/relationships/image" Target="/ppt/media/image5.jpeg" Id="R3aac5d92607a4949" /><Relationship Type="http://schemas.openxmlformats.org/officeDocument/2006/relationships/notesSlide" Target="/ppt/notesSlides/notesSlide7.xml" Id="R32bd2375c16c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d6517111643f5" /><Relationship Type="http://schemas.openxmlformats.org/officeDocument/2006/relationships/image" Target="/ppt/media/image6.jpeg" Id="Rc77d64f898a84887" /><Relationship Type="http://schemas.openxmlformats.org/officeDocument/2006/relationships/notesSlide" Target="/ppt/notesSlides/notesSlide8.xml" Id="Raeae4d995aad46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4dc8ed7784ca2" /><Relationship Type="http://schemas.openxmlformats.org/officeDocument/2006/relationships/notesSlide" Target="/ppt/notesSlides/notesSlide9.xml" Id="Rd6c7518a21974c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8d9fa5d4d45ab" /><Relationship Type="http://schemas.openxmlformats.org/officeDocument/2006/relationships/image" Target="/ppt/media/image7.jpeg" Id="R3fcaa1264b864724" /><Relationship Type="http://schemas.openxmlformats.org/officeDocument/2006/relationships/notesSlide" Target="/ppt/notesSlides/notesSlide10.xml" Id="R9ba07896dcdb44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a7e9627054a24" /><Relationship Type="http://schemas.openxmlformats.org/officeDocument/2006/relationships/image" Target="/ppt/media/image8.jpeg" Id="Rf99f1bca95fd45af" /><Relationship Type="http://schemas.openxmlformats.org/officeDocument/2006/relationships/notesSlide" Target="/ppt/notesSlides/notesSlide11.xml" Id="R512b8bec6cfd46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9fbf02bf94a9b" /><Relationship Type="http://schemas.openxmlformats.org/officeDocument/2006/relationships/image" Target="/ppt/media/image9.jpeg" Id="Rfdb48275bd444ed5" /><Relationship Type="http://schemas.openxmlformats.org/officeDocument/2006/relationships/notesSlide" Target="/ppt/notesSlides/notesSlide12.xml" Id="R665789d3e78a45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b1e4d9d7545d9" /><Relationship Type="http://schemas.openxmlformats.org/officeDocument/2006/relationships/image" Target="/ppt/media/image10.jpeg" Id="Rb981d1105161428f" /><Relationship Type="http://schemas.openxmlformats.org/officeDocument/2006/relationships/notesSlide" Target="/ppt/notesSlides/notesSlide13.xml" Id="Rb714213c9ffb45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38F4C-E303-494F-A7D0-32D4B98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8C9E8"/>
                </a:solidFill>
              </a:defRPr>
            </a:pPr>
            <a:r>
              <a:rPr sz="1125" b="1" i="0">
                <a:solidFill>
                  <a:srgbClr val="48C9E8"/>
                </a:solidFill>
              </a:rPr>
              <a:t>DEEP LEARNING · CHAPTER 5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37622C55-2931-4883-8233-96B58BBA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7810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F4F1E8"/>
                </a:solidFill>
              </a:defRPr>
            </a:pPr>
            <a:r>
              <a:rPr sz="5250" b="0" i="0">
                <a:solidFill>
                  <a:srgbClr val="F4F1E8"/>
                </a:solidFill>
              </a:rPr>
              <a:t>How transformers turn</a:t>
            </a:r>
          </a:p>
          <a:p xmlns:a="http://schemas.openxmlformats.org/drawingml/2006/main">
            <a:pPr algn="l">
              <a:defRPr sz="5250" b="0" i="0">
                <a:solidFill>
                  <a:srgbClr val="F4F1E8"/>
                </a:solidFill>
              </a:defRPr>
            </a:pPr>
            <a:r>
              <a:rPr sz="5250" b="0" i="0">
                <a:solidFill>
                  <a:srgbClr val="F4F1E8"/>
                </a:solidFill>
              </a:rPr>
              <a:t>context into the next token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9CC2F-7768-48E4-800C-5247C05E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A7C11-AA53-4494-8FEF-A1D60FCF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9AFB8"/>
                </a:solidFill>
              </a:defRPr>
            </a:pPr>
            <a:r>
              <a:rPr sz="1500" b="0" i="0">
                <a:solidFill>
                  <a:srgbClr val="A9AFB8"/>
                </a:solidFill>
              </a:rPr>
              <a:t>A visual briefing on the machinery behind modern language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5420F-BACD-45E5-903E-2E63B4E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430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48C9E8"/>
                </a:solidFill>
              </a:defRPr>
            </a:pPr>
            <a:r>
              <a:rPr sz="2250" b="0" i="0">
                <a:solidFill>
                  <a:srgbClr val="48C9E8"/>
                </a:solidFill>
              </a:rPr>
              <a:t>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83AB8-A9CB-4480-9E01-7D1BB0EB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5265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52004-8292-487F-99D8-A921E38F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00400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C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0A5B0-2E50-45D0-8127-91E0937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4F1E8"/>
                </a:solidFill>
              </a:defRPr>
            </a:pPr>
            <a:r>
              <a:rPr sz="1725" b="0" i="0">
                <a:solidFill>
                  <a:srgbClr val="F4F1E8"/>
                </a:solidFill>
              </a:rPr>
              <a:t>weights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60FFC-2FFB-44EE-9D5B-14ACD298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91050"/>
            <a:ext cx="19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0E354-72B7-4152-9E83-FC1B934B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19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E66A6A"/>
                </a:solidFill>
              </a:defRPr>
            </a:pPr>
            <a:r>
              <a:rPr sz="2250" b="0" i="0">
                <a:solidFill>
                  <a:srgbClr val="E66A6A"/>
                </a:solidFill>
              </a:rPr>
              <a:t>next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128D6-B655-4327-8357-90AEC4FD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SOURCE · 00:23</a:t>
            </a:r>
          </a:p>
        </p:txBody>
      </p:sp>
    </p:spTree>
    <p:extLst>
      <p:ext uri="{BB962C8B-B14F-4D97-AF65-F5344CB8AC3E}">
        <p14:creationId xmlns:p14="http://schemas.microsoft.com/office/powerpoint/2010/main" val="1049003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9BB29-E956-41D4-8F9D-DE7796B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THE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B9B71-71C5-42A8-B73A-38C3E96B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02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9799FBD-F5FE-4630-85BF-E38A5BD7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Generation is a loop: predict, sample, append, repeat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CC4EA-7261-4DA6-A269-3ECE4EE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C825C-27D9-4228-A212-AD4BC43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9AFB8"/>
                </a:solidFill>
              </a:defRPr>
            </a:pPr>
            <a:r>
              <a:rPr sz="1725" b="0" i="0">
                <a:solidFill>
                  <a:srgbClr val="A9AFB8"/>
                </a:solidFill>
              </a:rPr>
              <a:t>A next-token predictor becomes a text generator by feeding its own sampled output back into the prompt.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34E3E-04A6-4483-A9A0-DF8E9C6D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0618F-86D4-4A53-92F5-4976ACBC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Predict a distribution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2F5D6-AAE5-4DE0-A758-33AD0C9E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82F06-DB3D-4211-9649-8D3755E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Sample one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3CC5B-CD32-42C1-9316-C1CBF1BF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97DF9-D26C-4530-92FA-FC03D209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Append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1FE10-835F-4E89-AE47-639231E4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75CD4-6ADD-4C0E-BC4A-D00D07E9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3448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Run the model again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fc850d04c4ef7"/>
          <a:stretch xmlns:a="http://schemas.openxmlformats.org/drawingml/2006/main"/>
        </p:blipFill>
        <p:spPr>
          <a:xfrm xmlns:a="http://schemas.openxmlformats.org/drawingml/2006/main">
            <a:off x="4953000" y="1583531"/>
            <a:ext cx="6629400" cy="372903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D784D1-701A-466A-8FD1-09AF8B14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662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02:20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D4399-A14C-4C93-9071-7CE444D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15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2C84B"/>
                </a:solidFill>
              </a:defRPr>
            </a:pPr>
            <a:r>
              <a:rPr sz="1350" b="1" i="0">
                <a:solidFill>
                  <a:srgbClr val="F2C84B"/>
                </a:solidFill>
              </a:rPr>
              <a:t>ONE TOKEN AT A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90942-D554-488E-96F1-7ED78395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B438F-4E16-4844-B0A3-C7332B9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396756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BF890-A25E-48B1-97F5-3DB0847B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INSIDE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4D0F8-C290-46E6-9C03-280D38C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03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C15AE03-F055-40FE-A8EE-A6AA80E5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A transformer is a four-stage data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C1860-E169-4A54-A688-2E55667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3301C-F283-401A-84F1-A63CD380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62100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A9AFB8"/>
                </a:solidFill>
              </a:defRPr>
            </a:pPr>
            <a:r>
              <a:rPr sz="1725" b="0" i="0">
                <a:solidFill>
                  <a:srgbClr val="A9AFB8"/>
                </a:solidFill>
              </a:rPr>
              <a:t>Text enters as discrete tokens and leaves as a probability distribution over what comes next.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1C02E-2AD0-4F6B-A0B6-F2257E51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8"/>
          </a:solidFill>
          <a:ln xmlns:a="http://schemas.openxmlformats.org/drawingml/2006/main" w="9525">
            <a:solidFill>
              <a:srgbClr val="173B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6F534-C8AD-4B67-9700-B69B3130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B1A95-112D-447F-AE3E-D976F45D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4F1E8"/>
                </a:solidFill>
              </a:defRPr>
            </a:pPr>
            <a:r>
              <a:rPr sz="1875" b="1" i="0">
                <a:solidFill>
                  <a:srgbClr val="F4F1E8"/>
                </a:solidFill>
              </a:rPr>
              <a:t>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E677E-A8BC-4089-8478-155E6610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9AFB8"/>
                </a:solidFill>
              </a:defRPr>
            </a:pPr>
            <a:r>
              <a:rPr sz="1350" b="0" i="0">
                <a:solidFill>
                  <a:srgbClr val="A9AFB8"/>
                </a:solidFill>
              </a:rPr>
              <a:t>tokens → vectors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9E651-A2F1-45B0-BD28-D7EEB8E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48C9E8"/>
                </a:solidFill>
              </a:defRPr>
            </a:pPr>
            <a:r>
              <a:rPr sz="2550" b="0" i="0">
                <a:solidFill>
                  <a:srgbClr val="48C9E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1B7D1-941C-4EE9-A2EA-4069231D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762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9525">
            <a:solidFill>
              <a:srgbClr val="173B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C3CA7-22A7-4518-9D1A-6EFEAC8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9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99D5A-2C57-4B81-8079-5BDEB8C7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48000"/>
            <a:ext cx="2266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4F1E8"/>
                </a:solidFill>
              </a:defRPr>
            </a:pPr>
            <a:r>
              <a:rPr sz="2325" b="1" i="0">
                <a:solidFill>
                  <a:srgbClr val="F4F1E8"/>
                </a:solidFill>
              </a:rPr>
              <a:t>Attention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6B45C-AB44-4F7B-B4E1-4134D214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9AFB8"/>
                </a:solidFill>
              </a:defRPr>
            </a:pPr>
            <a:r>
              <a:rPr sz="1350" b="0" i="0">
                <a:solidFill>
                  <a:srgbClr val="A9AFB8"/>
                </a:solidFill>
              </a:rPr>
              <a:t>tokens exchange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12A21-9646-41CD-8E6C-F850306E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4F11B-6FA4-457E-8181-2BA89A38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434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2C84B"/>
                </a:solidFill>
              </a:defRPr>
            </a:pPr>
            <a:r>
              <a:rPr sz="1200" b="1" i="0">
                <a:solidFill>
                  <a:srgbClr val="F2C84B"/>
                </a:solidFill>
              </a:rPr>
              <a:t>repeated with MLP blocks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7539D-75EF-4975-9B21-165467CB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F2C84B"/>
                </a:solidFill>
              </a:defRPr>
            </a:pPr>
            <a:r>
              <a:rPr sz="2550" b="0" i="0">
                <a:solidFill>
                  <a:srgbClr val="F2C84B"/>
                </a:solidFill>
              </a:rPr>
              <a:t>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88041-E287-48A5-BDF6-FB9C1723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70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8"/>
          </a:solidFill>
          <a:ln xmlns:a="http://schemas.openxmlformats.org/drawingml/2006/main" w="9525">
            <a:solidFill>
              <a:srgbClr val="55461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42C89-AF60-4386-A517-76AB6BC7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AD679-73E4-46FC-8C52-F65C1D0D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5755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1E8"/>
                </a:solidFill>
              </a:defRPr>
            </a:pPr>
            <a:r>
              <a:rPr sz="1800" b="1" i="0">
                <a:solidFill>
                  <a:srgbClr val="F4F1E8"/>
                </a:solidFill>
              </a:rPr>
              <a:t>Unembed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9DD50-04D5-45C0-807E-8FBC42D5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243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9AFB8"/>
                </a:solidFill>
              </a:defRPr>
            </a:pPr>
            <a:r>
              <a:rPr sz="1350" b="0" i="0">
                <a:solidFill>
                  <a:srgbClr val="A9AFB8"/>
                </a:solidFill>
              </a:rPr>
              <a:t>vector → logits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C80F0-8891-4E1C-9C60-8FB025E0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48C9E8"/>
                </a:solidFill>
              </a:defRPr>
            </a:pPr>
            <a:r>
              <a:rPr sz="2550" b="0" i="0">
                <a:solidFill>
                  <a:srgbClr val="48C9E8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97F17-4655-4238-8D1B-E859DBE9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581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8"/>
          </a:solidFill>
          <a:ln xmlns:a="http://schemas.openxmlformats.org/drawingml/2006/main" w="9525">
            <a:solidFill>
              <a:srgbClr val="55461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F1534-7E38-46BB-82F2-CD311781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D6348-5035-4EAC-8DD4-4A5AEF5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F1E8"/>
                </a:solidFill>
              </a:defRPr>
            </a:pPr>
            <a:r>
              <a:rPr sz="1800" b="1" i="0">
                <a:solidFill>
                  <a:srgbClr val="F4F1E8"/>
                </a:solidFill>
              </a:rPr>
              <a:t>Softmax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D1F95-C29A-4273-AA93-3BCC64F8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243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9AFB8"/>
                </a:solidFill>
              </a:defRPr>
            </a:pPr>
            <a:r>
              <a:rPr sz="1275" b="0" i="0">
                <a:solidFill>
                  <a:srgbClr val="A9AFB8"/>
                </a:solidFill>
              </a:rPr>
              <a:t>logits → probability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22F86-00FC-4565-83DC-219CB864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91150"/>
            <a:ext cx="861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47B85"/>
                </a:solidFill>
              </a:defRPr>
            </a:pPr>
            <a:r>
              <a:rPr sz="1350" b="0" i="0">
                <a:solidFill>
                  <a:srgbClr val="747B85"/>
                </a:solidFill>
              </a:rPr>
              <a:t>Attention and MLP blocks repeat; normalization steps are omitted in this high-level view.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A2BE91-C087-4962-9B2F-304A69E8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28606B-7C64-4B44-B8AB-2D84F43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175347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9B9F9-CF05-4407-82B2-3B220D24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THE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9332A-E0E8-420E-A2CC-0C963615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04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137858A-A51A-480D-B826-93196894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Deep learning turns data into trainable matrix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1C3C6-3E35-45CD-BB01-1C5B4B8C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6059dbf3c402d"/>
          <a:stretch xmlns:a="http://schemas.openxmlformats.org/drawingml/2006/main"/>
        </p:blipFill>
        <p:spPr>
          <a:xfrm xmlns:a="http://schemas.openxmlformats.org/drawingml/2006/main">
            <a:off x="609600" y="165913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6195B-721B-4087-87FD-09224B59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12:27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4D245-8325-4CE8-B233-5638186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764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TWO THINGS TO KEEP SEPARATE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0BF1C-CCF4-4E0F-9A62-72429033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48C9E8"/>
                </a:solidFill>
              </a:defRPr>
            </a:pPr>
            <a:r>
              <a:rPr sz="2025" b="1" i="0">
                <a:solidFill>
                  <a:srgbClr val="48C9E8"/>
                </a:solidFill>
              </a:rPr>
              <a:t>WEIGHTS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44AE-41DC-4449-B481-3FA9F8CC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1E8"/>
                </a:solidFill>
              </a:defRPr>
            </a:pPr>
            <a:r>
              <a:rPr sz="1575" b="0" i="0">
                <a:solidFill>
                  <a:srgbClr val="F4F1E8"/>
                </a:solidFill>
              </a:rPr>
              <a:t>Learned during training.</a:t>
            </a:r>
          </a:p>
          <a:p xmlns:a="http://schemas.openxmlformats.org/drawingml/2006/main">
            <a:pPr algn="l">
              <a:defRPr sz="1575" b="0" i="0">
                <a:solidFill>
                  <a:srgbClr val="F4F1E8"/>
                </a:solidFill>
              </a:defRPr>
            </a:pPr>
            <a:r>
              <a:rPr sz="1575" b="0" i="0">
                <a:solidFill>
                  <a:srgbClr val="F4F1E8"/>
                </a:solidFill>
              </a:rPr>
              <a:t>They determine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30D74-C7C4-409E-844E-E41B1705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D09D4-D464-4521-8427-AD47DFD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7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2C84B"/>
                </a:solidFill>
              </a:defRPr>
            </a:pPr>
            <a:r>
              <a:rPr sz="2025" b="1" i="0">
                <a:solidFill>
                  <a:srgbClr val="F2C84B"/>
                </a:solidFill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56DB8-371E-4489-86F7-831E728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862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4F1E8"/>
                </a:solidFill>
              </a:defRPr>
            </a:pPr>
            <a:r>
              <a:rPr sz="1575" b="0" i="0">
                <a:solidFill>
                  <a:srgbClr val="F4F1E8"/>
                </a:solidFill>
              </a:rPr>
              <a:t>The current input.</a:t>
            </a:r>
          </a:p>
          <a:p xmlns:a="http://schemas.openxmlformats.org/drawingml/2006/main">
            <a:pPr algn="l">
              <a:defRPr sz="1575" b="0" i="0">
                <a:solidFill>
                  <a:srgbClr val="F4F1E8"/>
                </a:solidFill>
              </a:defRPr>
            </a:pPr>
            <a:r>
              <a:rPr sz="1575" b="0" i="0">
                <a:solidFill>
                  <a:srgbClr val="F4F1E8"/>
                </a:solidFill>
              </a:rPr>
              <a:t>It changes on every run.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F165-10C3-4DA9-BC23-703E3AA5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AFB8"/>
                </a:solidFill>
              </a:defRPr>
            </a:pPr>
            <a:r>
              <a:rPr sz="1800" b="1" i="0">
                <a:solidFill>
                  <a:srgbClr val="A9AFB8"/>
                </a:solidFill>
              </a:rPr>
              <a:t>Almost all computation looks like matrix × vector multiplication.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841DB-03E8-43D6-A66A-2E383FC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BA581-3DC3-4977-A710-10FDE9D8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622624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BFD60-60E3-479D-B524-03BE0F3B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EMBEDDINGS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883D-BB8C-430C-89B3-D99D2917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05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79D9BAA-7EC9-4238-8F3B-E6E26C33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Tokenization becomes a learned vector lookup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5909F-9428-427A-BC60-E4921C61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B3D7F-967A-4EC8-9292-9207B3B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1E8"/>
                </a:solidFill>
              </a:defRPr>
            </a:pPr>
            <a:r>
              <a:rPr sz="1875" b="1" i="0">
                <a:solidFill>
                  <a:srgbClr val="F4F1E8"/>
                </a:solidFill>
              </a:rPr>
              <a:t>A token selects one column from the embedding matrix.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527E2-2C05-4A0D-9370-16A5180A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905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AFB8"/>
                </a:solidFill>
              </a:defRPr>
            </a:pPr>
            <a:r>
              <a:rPr sz="1650" b="0" i="0">
                <a:solidFill>
                  <a:srgbClr val="A9AFB8"/>
                </a:solidFill>
              </a:rPr>
              <a:t>That column is the token’s starting representation inside the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0246C-132B-4E9B-A3A9-FA1FA31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48C9E8"/>
                </a:solidFill>
              </a:defRPr>
            </a:pPr>
            <a:r>
              <a:rPr sz="3900" b="1" i="0">
                <a:solidFill>
                  <a:srgbClr val="48C9E8"/>
                </a:solidFill>
              </a:rPr>
              <a:t>12,288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7CE5C-F8BF-4002-84B1-9AA4F480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AFB8"/>
                </a:solidFill>
              </a:defRPr>
            </a:pPr>
            <a:r>
              <a:rPr sz="1350" b="0" i="0">
                <a:solidFill>
                  <a:srgbClr val="A9AFB8"/>
                </a:solidFill>
              </a:rPr>
              <a:t>dimensions per GPT-3 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355A1-A539-4B5D-8E1C-4A5B65A9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2C84B"/>
                </a:solidFill>
              </a:defRPr>
            </a:pPr>
            <a:r>
              <a:rPr sz="3300" b="1" i="0">
                <a:solidFill>
                  <a:srgbClr val="F2C84B"/>
                </a:solidFill>
              </a:rPr>
              <a:t>≈ 617M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EA1A2-7B45-485D-AF13-2BA65D4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AFB8"/>
                </a:solidFill>
              </a:defRPr>
            </a:pPr>
            <a:r>
              <a:rPr sz="1350" b="0" i="0">
                <a:solidFill>
                  <a:srgbClr val="A9AFB8"/>
                </a:solidFill>
              </a:rPr>
              <a:t>weights in the embedding matrix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1df826e784ae1"/>
          <a:stretch xmlns:a="http://schemas.openxmlformats.org/drawingml/2006/main"/>
        </p:blipFill>
        <p:spPr>
          <a:xfrm xmlns:a="http://schemas.openxmlformats.org/drawingml/2006/main">
            <a:off x="4762500" y="1582341"/>
            <a:ext cx="6819900" cy="383619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0B4B4-D706-4A3D-9AE9-55E101D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86400"/>
            <a:ext cx="681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13:20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7142D-5A44-4642-9954-1E395971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9236B-DD11-45EE-B948-051F503A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348441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ffb30c6f4283"/>
          <a:srcRect xmlns:a="http://schemas.openxmlformats.org/drawingml/2006/main" l="16406" t="0" r="1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D2B3E-DB77-4DDF-BDBD-3A4AA823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476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4F1E8"/>
                </a:solidFill>
              </a:defRPr>
            </a:pPr>
            <a:r>
              <a:rPr sz="4350" b="0" i="0">
                <a:solidFill>
                  <a:srgbClr val="F4F1E8"/>
                </a:solidFill>
              </a:rPr>
              <a:t>Meaning becomes</a:t>
            </a:r>
          </a:p>
          <a:p xmlns:a="http://schemas.openxmlformats.org/drawingml/2006/main">
            <a:pPr algn="l">
              <a:defRPr sz="4350" b="0" i="0">
                <a:solidFill>
                  <a:srgbClr val="F4F1E8"/>
                </a:solidFill>
              </a:defRPr>
            </a:pPr>
            <a:r>
              <a:rPr sz="4350" b="0" i="0">
                <a:solidFill>
                  <a:srgbClr val="F4F1E8"/>
                </a:solidFill>
              </a:rPr>
              <a:t>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17493-B02B-4FEC-B6B3-6691306F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6B8CC-7580-425C-86CC-7629D47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8CDD4"/>
                </a:solidFill>
              </a:defRPr>
            </a:pPr>
            <a:r>
              <a:rPr sz="1575" b="0" i="0">
                <a:solidFill>
                  <a:srgbClr val="C8CDD4"/>
                </a:solidFill>
              </a:rPr>
              <a:t>Embeddings place words in a high-dimensional space. Directions can encode relationships—but only approximately.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789F9-8C7C-41EA-886A-A98D7D17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 i="1">
                <a:solidFill>
                  <a:srgbClr val="E66A6A"/>
                </a:solidFill>
              </a:defRPr>
            </a:pPr>
            <a:r>
              <a:rPr sz="1800" b="0" i="1">
                <a:solidFill>
                  <a:srgbClr val="E66A6A"/>
                </a:solidFill>
              </a:rPr>
              <a:t>Analogy is intuition, not an</a:t>
            </a:r>
          </a:p>
          <a:p xmlns:a="http://schemas.openxmlformats.org/drawingml/2006/main">
            <a:pPr algn="l">
              <a:defRPr sz="1800" b="0" i="1">
                <a:solidFill>
                  <a:srgbClr val="E66A6A"/>
                </a:solidFill>
              </a:defRPr>
            </a:pPr>
            <a:r>
              <a:rPr sz="1800" b="0" i="1">
                <a:solidFill>
                  <a:srgbClr val="E66A6A"/>
                </a:solidFill>
              </a:rPr>
              <a:t>exact semantic law.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9F543-FE1C-4C4B-A472-794B1BD7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341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47B85"/>
                </a:solidFill>
              </a:defRPr>
            </a:pPr>
            <a:r>
              <a:rPr sz="825" b="0" i="0">
                <a:solidFill>
                  <a:srgbClr val="747B85"/>
                </a:solidFill>
              </a:rPr>
              <a:t>SOURCE · 15:32</a:t>
            </a:r>
          </a:p>
        </p:txBody>
      </p:sp>
    </p:spTree>
    <p:extLst>
      <p:ext uri="{BB962C8B-B14F-4D97-AF65-F5344CB8AC3E}">
        <p14:creationId xmlns:p14="http://schemas.microsoft.com/office/powerpoint/2010/main" val="22154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5B992-132A-41AA-9AB1-7F6F1F0B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VECTOR MATH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022F0-3272-42E8-9714-9A936BFB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07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D1A05BF-99CF-41E4-BBA6-1A82F57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Dot products turn alignment into a computable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C36FF-9898-406E-BE93-61E50144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1FAC6-8247-4DF6-8F3B-C8323455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2C84B"/>
                </a:solidFill>
              </a:defRPr>
            </a:pPr>
            <a:r>
              <a:rPr sz="5400" b="1" i="0">
                <a:solidFill>
                  <a:srgbClr val="F2C84B"/>
                </a:solidFill>
              </a:rPr>
              <a:t>v · 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10D4A-25F9-4E9C-AC09-8D1F1565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AFB8"/>
                </a:solidFill>
              </a:defRPr>
            </a:pPr>
            <a:r>
              <a:rPr sz="1650" b="0" i="0">
                <a:solidFill>
                  <a:srgbClr val="A9AFB8"/>
                </a:solidFill>
              </a:rPr>
              <a:t>Multiply corresponding components, then add the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9C847-9ED5-41CD-8E37-632FD9CF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48C9E8"/>
                </a:solidFill>
              </a:defRPr>
            </a:pPr>
            <a:r>
              <a:rPr sz="2100" b="1" i="0">
                <a:solidFill>
                  <a:srgbClr val="48C9E8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E490A-635D-48B7-8E61-8DDBD61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similar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2DE3C-B511-4800-A2B5-C66EF5C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A9AFB8"/>
                </a:solidFill>
              </a:defRPr>
            </a:pPr>
            <a:r>
              <a:rPr sz="1800" b="1" i="0">
                <a:solidFill>
                  <a:srgbClr val="A9AFB8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C4DDC-AD68-4F54-A38E-0B859B00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perpendicular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46AF7-5261-49D4-985E-9D16D581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E66A6A"/>
                </a:solidFill>
              </a:defRPr>
            </a:pPr>
            <a:r>
              <a:rPr sz="2100" b="1" i="0">
                <a:solidFill>
                  <a:srgbClr val="E66A6A"/>
                </a:solidFill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0833D-6B19-4BE1-A998-6C8072A7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opposing direction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c5d92607a4949"/>
          <a:stretch xmlns:a="http://schemas.openxmlformats.org/drawingml/2006/main"/>
        </p:blipFill>
        <p:spPr>
          <a:xfrm xmlns:a="http://schemas.openxmlformats.org/drawingml/2006/main">
            <a:off x="4572000" y="1657350"/>
            <a:ext cx="7010400" cy="3943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03BED-6CF2-461F-88B2-C235F1F5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667375"/>
            <a:ext cx="701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16:40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FA794-A63C-4EC5-B433-8925A30F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4C32E-0D4C-474D-8E30-047883EC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341045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A6392-E09D-4DC6-AB0B-5960267D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9D6F4-0C85-41F1-B1D5-BC9FF63A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08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C3C96F4-52D0-4CA8-8252-8E79AC6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Layers turn generic token vectors into contextual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8C1D7-4A93-491A-8D94-F923AB86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960B2-C341-40C1-9DBD-2BEA388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4F409-C045-44D1-B352-A5CCAF87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4F1E8"/>
                </a:solidFill>
              </a:defRPr>
            </a:pPr>
            <a:r>
              <a:rPr sz="3600" b="1" i="0">
                <a:solidFill>
                  <a:srgbClr val="F4F1E8"/>
                </a:solidFill>
              </a:rPr>
              <a:t>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567E6-04C0-42BF-AEAE-D6F1BCEA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9AFB8"/>
                </a:solidFill>
              </a:defRPr>
            </a:pPr>
            <a:r>
              <a:rPr sz="1575" b="0" i="0">
                <a:solidFill>
                  <a:srgbClr val="A9AFB8"/>
                </a:solidFill>
              </a:rPr>
              <a:t>A context-free lookup from the embedding matrix.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56D5F-614C-4AB9-9B61-955A8A6B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AFTER MANY 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2B711-13A8-4D89-8FD9-B5DFF47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4F1E8"/>
                </a:solidFill>
              </a:defRPr>
            </a:pPr>
            <a:r>
              <a:rPr sz="2325" b="1" i="0">
                <a:solidFill>
                  <a:srgbClr val="F4F1E8"/>
                </a:solidFill>
              </a:rPr>
              <a:t>a Scottish king, in a specific passage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83BE5-D3BF-4D08-AAC3-80CC94FE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9AFB8"/>
                </a:solidFill>
              </a:defRPr>
            </a:pPr>
            <a:r>
              <a:rPr sz="1500" b="0" i="0">
                <a:solidFill>
                  <a:srgbClr val="A9AFB8"/>
                </a:solidFill>
              </a:rPr>
              <a:t>The vector absorbs information from its surroundings.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d64f898a84887"/>
          <a:stretch xmlns:a="http://schemas.openxmlformats.org/drawingml/2006/main"/>
        </p:blipFill>
        <p:spPr>
          <a:xfrm xmlns:a="http://schemas.openxmlformats.org/drawingml/2006/main">
            <a:off x="4688417" y="1676400"/>
            <a:ext cx="6891867" cy="38766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5B49C-759D-49BB-804C-BD04F0D4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19750"/>
            <a:ext cx="689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18:40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E2D42-4159-4A48-B86B-21CF3DC1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52A74-3CFD-490D-BAE8-B5C3C91B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1745975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CD709-11E8-4DC5-ADB6-323847D9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5D95D-F421-4747-9638-9ED22259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09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89A47719-AEAC-4811-9E30-8E9446BF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Context windows cap what the model can consider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BD394-074D-4336-A86A-2F21281B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C6872-A933-47AA-83A9-352801CB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48C9E8"/>
                </a:solidFill>
              </a:defRPr>
            </a:pPr>
            <a:r>
              <a:rPr sz="5700" b="1" i="0">
                <a:solidFill>
                  <a:srgbClr val="48C9E8"/>
                </a:solidFill>
              </a:rPr>
              <a:t>2,048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EF13A-D7FF-44C6-8D32-43F6925C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AFB8"/>
                </a:solidFill>
              </a:defRPr>
            </a:pPr>
            <a:r>
              <a:rPr sz="1650" b="0" i="0">
                <a:solidFill>
                  <a:srgbClr val="A9AFB8"/>
                </a:solidFill>
              </a:rPr>
              <a:t>tokens in GPT-3’s training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276A7-B666-4CD4-A833-4F7B6D10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27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6C97C-02A0-4F1B-924E-24E71913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1E8"/>
                </a:solidFill>
              </a:defRPr>
            </a:pPr>
            <a:r>
              <a:rPr sz="1800" b="1" i="0">
                <a:solidFill>
                  <a:srgbClr val="F4F1E8"/>
                </a:solidFill>
              </a:rPr>
              <a:t>Only text inside this window can shape the next prediction.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A893C-681C-446A-9F06-2F02F2FE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2C84B"/>
                </a:solidFill>
              </a:defRPr>
            </a:pPr>
            <a:r>
              <a:rPr sz="1350" b="0" i="0">
                <a:solidFill>
                  <a:srgbClr val="F2C84B"/>
                </a:solidFill>
              </a:rPr>
              <a:t>Outside the window → unavailable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F5D43-A29E-4D49-B1F8-19F460B2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695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8"/>
          </a:solidFill>
          <a:ln xmlns:a="http://schemas.openxmlformats.org/drawingml/2006/main" w="9525">
            <a:solidFill>
              <a:srgbClr val="173B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51D50-BA09-4132-A65F-FB9225CD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INSIDE THE CONTEXT 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2AD0A-F949-4589-9879-2E1CE93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9525">
            <a:solidFill>
              <a:srgbClr val="262A3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83B1D-D5BF-447B-A3D4-8C582D29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AFB8"/>
                </a:solidFill>
              </a:defRPr>
            </a:pPr>
            <a:r>
              <a:rPr sz="1200" b="0" i="0">
                <a:solidFill>
                  <a:srgbClr val="A9AFB8"/>
                </a:solidFill>
              </a:rPr>
              <a:t>The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34D4D-2BD2-48DC-AEB0-F576FF75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146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9525">
            <a:solidFill>
              <a:srgbClr val="262A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C1BCB-7C7A-4BAE-AEC1-DFC5E9CD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AFB8"/>
                </a:solidFill>
              </a:defRPr>
            </a:pPr>
            <a:r>
              <a:rPr sz="1200" b="0" i="0">
                <a:solidFill>
                  <a:srgbClr val="A9AFB8"/>
                </a:solidFill>
              </a:rPr>
              <a:t>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BD448-69FC-44E5-A87F-76C2989E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9525">
            <a:solidFill>
              <a:srgbClr val="262A3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1FABE-9836-4A19-A30B-105EDF5E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AFB8"/>
                </a:solidFill>
              </a:defRPr>
            </a:pPr>
            <a:r>
              <a:rPr sz="1200" b="0" i="0">
                <a:solidFill>
                  <a:srgbClr val="A9AFB8"/>
                </a:solidFill>
              </a:rPr>
              <a:t>reads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9FD3F3-8481-4889-BDFF-56A7459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3"/>
          </a:solidFill>
          <a:ln xmlns:a="http://schemas.openxmlformats.org/drawingml/2006/main" w="9525">
            <a:solidFill>
              <a:srgbClr val="48C9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4A85F-5F6A-4D8F-8EFB-288CC913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4F1E8"/>
                </a:solidFill>
              </a:defRPr>
            </a:pPr>
            <a:r>
              <a:rPr sz="1200" b="1" i="0">
                <a:solidFill>
                  <a:srgbClr val="F4F1E8"/>
                </a:solidFill>
              </a:rPr>
              <a:t>2,048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0D897-2130-4CD9-8E93-C889FDB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146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9525">
            <a:solidFill>
              <a:srgbClr val="262A3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8CFC6-5BD6-4570-9D09-5BE59C76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AFB8"/>
                </a:solidFill>
              </a:defRPr>
            </a:pPr>
            <a:r>
              <a:rPr sz="1200" b="0" i="0">
                <a:solidFill>
                  <a:srgbClr val="A9AFB8"/>
                </a:solidFill>
              </a:rPr>
              <a:t>tokens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B19C6-B424-4D41-834E-ED9E64E6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9525">
            <a:solidFill>
              <a:srgbClr val="262A3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7B4AC-43C2-4277-8C05-69B745D1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9085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9AFB8"/>
                </a:solidFill>
              </a:defRPr>
            </a:pPr>
            <a:r>
              <a:rPr sz="1200" b="0" i="0">
                <a:solidFill>
                  <a:srgbClr val="A9AFB8"/>
                </a:solidFill>
              </a:rPr>
              <a:t>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742EC-B398-47EB-BDFC-09402980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67150"/>
            <a:ext cx="5848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AB2F5-CD3E-443B-A0CE-0EB54BC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81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8C9E8"/>
                </a:solidFill>
              </a:defRPr>
            </a:pPr>
            <a:r>
              <a:rPr sz="900" b="1" i="0">
                <a:solidFill>
                  <a:srgbClr val="48C9E8"/>
                </a:solidFill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09CF0-86D0-42D4-B932-ECB3762D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747B85"/>
                </a:solidFill>
              </a:defRPr>
            </a:pPr>
            <a:r>
              <a:rPr sz="1500" b="0" i="0">
                <a:solidFill>
                  <a:srgbClr val="747B85"/>
                </a:solidFill>
              </a:rPr>
              <a:t>Earlier text falls outside the active window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148FE-A53F-4F52-901C-0DC40664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577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2C84B"/>
                </a:solidFill>
              </a:defRPr>
            </a:pPr>
            <a:r>
              <a:rPr sz="1350" b="1" i="0">
                <a:solidFill>
                  <a:srgbClr val="F2C84B"/>
                </a:solidFill>
              </a:rPr>
              <a:t>unavailable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B478A-D4D8-4A35-AB7F-5214044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80F68-58B5-4EAC-A37C-FE90DCD5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192216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72AFD-6429-490F-B040-846EC639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THE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5213D-CF3E-4C23-BB49-79E99D95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10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898778FF-C968-455C-8BFA-20550A97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Unembedding converts context into vocabulary-wide logits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1C1AF-CE9D-434D-91FA-775354F5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aa1264b864724"/>
          <a:stretch xmlns:a="http://schemas.openxmlformats.org/drawingml/2006/main"/>
        </p:blipFill>
        <p:spPr>
          <a:xfrm xmlns:a="http://schemas.openxmlformats.org/drawingml/2006/main">
            <a:off x="609600" y="1678781"/>
            <a:ext cx="7086600" cy="39862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F10C5-48FC-475F-A07E-F4FBD969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708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21:40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028E0-0FBD-4E58-9575-CECD408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THE LAST TRANSFORMATION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7E2A1-E752-4562-8D3C-311E3317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EA54E-8763-4BAE-A742-03E66961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Last contextual vector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3C294-0619-47EE-A168-90C4003B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67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B0685-FBE4-427B-8461-BE17FDB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Multiply by Wᵤ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6AA9C-3F8B-4B11-8385-269B12BC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52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0AC6B-0354-46EC-AFB8-FC1347E3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528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One raw score per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3A1DC-04A8-427F-A603-1B976525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38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30CFD-BD56-4074-8C4A-C4A44CC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386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4F1E8"/>
                </a:solidFill>
              </a:defRPr>
            </a:pPr>
            <a:r>
              <a:rPr sz="1500" b="0" i="0">
                <a:solidFill>
                  <a:srgbClr val="F4F1E8"/>
                </a:solidFill>
              </a:rPr>
              <a:t>Pass logits to softmax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4DCDD-7975-4C90-AC90-416B5D3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06AF9-B9D5-481F-B467-DE2A05B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991102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387B3-BED6-4940-8A23-5BE417D5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THE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5BF5A-7AAA-4565-BC2C-C4320AD5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11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4943083-1FC3-4D40-8754-BEA63771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Softmax turns arbitrary logits into probabilities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ADD6C-4340-4657-AE54-2B3F91C9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40486-C3DC-4E89-A8EC-09E741D6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6C3FF-3F50-436D-BF41-C93616FB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1E8"/>
                </a:solidFill>
              </a:defRPr>
            </a:pPr>
            <a:r>
              <a:rPr sz="1875" b="1" i="0">
                <a:solidFill>
                  <a:srgbClr val="F4F1E8"/>
                </a:solidFill>
              </a:rPr>
              <a:t>Exponentiate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D9E11-B628-4029-9A96-BEFE7AF7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9AFB8"/>
                </a:solidFill>
              </a:defRPr>
            </a:pPr>
            <a:r>
              <a:rPr sz="1425" b="0" i="0">
                <a:solidFill>
                  <a:srgbClr val="A9AFB8"/>
                </a:solidFill>
              </a:rPr>
              <a:t>All values become positive.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7E76C-9B55-4F98-BD03-AFFD7733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1CA5D-8679-4BB1-B903-D105D9B7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1E8"/>
                </a:solidFill>
              </a:defRPr>
            </a:pPr>
            <a:r>
              <a:rPr sz="1875" b="1" i="0">
                <a:solidFill>
                  <a:srgbClr val="F4F1E8"/>
                </a:solidFill>
              </a:rPr>
              <a:t>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0D0B3-8C4A-4A87-BDCF-10E26BBF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671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9AFB8"/>
                </a:solidFill>
              </a:defRPr>
            </a:pPr>
            <a:r>
              <a:rPr sz="1425" b="0" i="0">
                <a:solidFill>
                  <a:srgbClr val="A9AFB8"/>
                </a:solidFill>
              </a:rPr>
              <a:t>Compute the total mass.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774C4-2E6C-488F-9AB1-5EC8D41C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3F27A-180A-44A4-9C18-77ED8676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F1E8"/>
                </a:solidFill>
              </a:defRPr>
            </a:pPr>
            <a:r>
              <a:rPr sz="1875" b="1" i="0">
                <a:solidFill>
                  <a:srgbClr val="F4F1E8"/>
                </a:solidFill>
              </a:rPr>
              <a:t>Normalize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5271D-BD3B-4E89-853F-C68D3D71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9AFB8"/>
                </a:solidFill>
              </a:defRPr>
            </a:pPr>
            <a:r>
              <a:rPr sz="1425" b="0" i="0">
                <a:solidFill>
                  <a:srgbClr val="A9AFB8"/>
                </a:solidFill>
              </a:rPr>
              <a:t>Divide each value by the total.</a:t>
            </a:r>
          </a:p>
          <a:p xmlns:a="http://schemas.openxmlformats.org/drawingml/2006/main">
            <a:pPr algn="l">
              <a:defRPr sz="1425" b="0" i="0">
                <a:solidFill>
                  <a:srgbClr val="A9AFB8"/>
                </a:solidFill>
              </a:defRPr>
            </a:pPr>
            <a:r>
              <a:rPr sz="1425" b="0" i="0">
                <a:solidFill>
                  <a:srgbClr val="A9AFB8"/>
                </a:solidFill>
              </a:rPr>
              <a:t>The probabilities now sum to 1.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f1bca95fd45af"/>
          <a:stretch xmlns:a="http://schemas.openxmlformats.org/drawingml/2006/main"/>
        </p:blipFill>
        <p:spPr>
          <a:xfrm xmlns:a="http://schemas.openxmlformats.org/drawingml/2006/main">
            <a:off x="4518025" y="1676400"/>
            <a:ext cx="7061200" cy="39719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1EA89-5BEA-48AE-A270-F4A8FF57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15000"/>
            <a:ext cx="706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23:20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F8177-6F31-433B-BE6F-962A778F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6CB69-66E9-42B1-A7AE-647E3F7C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8366153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DA838-72FC-442D-A021-F8C207B3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8C9E8"/>
                </a:solidFill>
              </a:defRPr>
            </a:pPr>
            <a:r>
              <a:rPr sz="1050" b="1" i="0">
                <a:solidFill>
                  <a:srgbClr val="48C9E8"/>
                </a:solidFill>
              </a:rPr>
              <a:t>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32F19-D9A7-4218-BE0C-F3AE6A10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747B85"/>
                </a:solidFill>
              </a:defRPr>
            </a:pPr>
            <a:r>
              <a:rPr sz="1050" b="0" i="0">
                <a:solidFill>
                  <a:srgbClr val="747B85"/>
                </a:solidFill>
              </a:rPr>
              <a:t>12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51121E69-4420-4D29-AFD1-FBB41438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363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F4F1E8"/>
                </a:solidFill>
              </a:defRPr>
            </a:pPr>
            <a:r>
              <a:rPr sz="3000" b="0" i="0">
                <a:solidFill>
                  <a:srgbClr val="F4F1E8"/>
                </a:solidFill>
              </a:rPr>
              <a:t>Temperature trades predictability for diversity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82F1B-8CD3-4B19-82E1-0904B392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D6926-6767-407A-9060-B4660790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48C9E8"/>
                </a:solidFill>
              </a:defRPr>
            </a:pPr>
            <a:r>
              <a:rPr sz="1500" b="1" i="0">
                <a:solidFill>
                  <a:srgbClr val="48C9E8"/>
                </a:solidFill>
              </a:rPr>
              <a:t>LOW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54CEB-5714-4E0E-ACD1-C4729AF5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1E8"/>
                </a:solidFill>
              </a:defRPr>
            </a:pPr>
            <a:r>
              <a:rPr sz="2700" b="1" i="0">
                <a:solidFill>
                  <a:srgbClr val="F4F1E8"/>
                </a:solidFill>
              </a:rPr>
              <a:t>Predictable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3763A-E33A-45C8-BD30-865DBD8A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9AFB8"/>
                </a:solidFill>
              </a:defRPr>
            </a:pPr>
            <a:r>
              <a:rPr sz="1500" b="0" i="0">
                <a:solidFill>
                  <a:srgbClr val="A9AFB8"/>
                </a:solidFill>
              </a:rPr>
              <a:t>Probability concentrates on the most likely choices.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DBA04-FEBB-4B36-8409-2261E688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A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D5DF3-7C47-47E2-B822-79ECD348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C84B"/>
                </a:solidFill>
              </a:defRPr>
            </a:pPr>
            <a:r>
              <a:rPr sz="1500" b="1" i="0">
                <a:solidFill>
                  <a:srgbClr val="F2C84B"/>
                </a:solidFill>
              </a:rPr>
              <a:t>HIGH 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0E8C7-EF69-4625-8166-5EA6D71A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1E8"/>
                </a:solidFill>
              </a:defRPr>
            </a:pPr>
            <a:r>
              <a:rPr sz="2550" b="1" i="0">
                <a:solidFill>
                  <a:srgbClr val="F4F1E8"/>
                </a:solidFill>
              </a:rPr>
              <a:t>Diverse—and risky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964CF-53C0-4410-A648-A68309A4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9AFB8"/>
                </a:solidFill>
              </a:defRPr>
            </a:pPr>
            <a:r>
              <a:rPr sz="1425" b="0" i="0">
                <a:solidFill>
                  <a:srgbClr val="A9AFB8"/>
                </a:solidFill>
              </a:rPr>
              <a:t>Less likely choices gain weight; novelty rises, then coherence can collapse.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48275bd444ed5"/>
          <a:stretch xmlns:a="http://schemas.openxmlformats.org/drawingml/2006/main"/>
        </p:blipFill>
        <p:spPr>
          <a:xfrm xmlns:a="http://schemas.openxmlformats.org/drawingml/2006/main">
            <a:off x="4476750" y="1659136"/>
            <a:ext cx="7105650" cy="399692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7E431-B1CF-4AEF-BA0E-DA1BE43F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24525"/>
            <a:ext cx="7105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47B85"/>
                </a:solidFill>
              </a:defRPr>
            </a:pPr>
            <a:r>
              <a:rPr sz="825" b="1" i="0">
                <a:solidFill>
                  <a:srgbClr val="747B85"/>
                </a:solidFill>
              </a:rPr>
              <a:t>SOURCE FRAME  •  24:40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C6208F-29AA-4F93-8849-110D96E4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3BLUE1BROWN · TRANSFORMERS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22F62-7323-4444-8C26-FF35F1A1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7B85"/>
                </a:solidFill>
              </a:defRPr>
            </a:pPr>
            <a:r>
              <a:rPr sz="900" b="0" i="0">
                <a:solidFill>
                  <a:srgbClr val="747B85"/>
                </a:solidFill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4949187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6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1d110516142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695F3-91FD-4814-95BF-41C6EF5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205B1-2C29-46E5-AA71-FFA4327B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F4F1E8"/>
                </a:solidFill>
              </a:defRPr>
            </a:pPr>
            <a:r>
              <a:rPr sz="3750" b="0" i="0">
                <a:solidFill>
                  <a:srgbClr val="F4F1E8"/>
                </a:solidFill>
              </a:rPr>
              <a:t>Four operations do most of the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F5DAC-103D-44E7-BFAD-6ED7A30A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5BBC3"/>
                </a:solidFill>
              </a:defRPr>
            </a:pPr>
            <a:r>
              <a:rPr sz="1275" b="0" i="0">
                <a:solidFill>
                  <a:srgbClr val="B5BBC3"/>
                </a:solidFill>
              </a:rPr>
              <a:t>Embeddings · dot products · matrix transforms · softmax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793F0-DCC5-48F5-BD81-184C02F9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524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85FBA-B65A-4814-94F6-C7E3C87D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ONE REUSABLE</a:t>
            </a:r>
          </a:p>
          <a:p xmlns:a="http://schemas.openxmlformats.org/drawingml/2006/main">
            <a:pPr algn="l">
              <a:defRPr sz="1050" b="1" i="0">
                <a:solidFill>
                  <a:srgbClr val="F2C84B"/>
                </a:solidFill>
              </a:defRPr>
            </a:pPr>
            <a:r>
              <a:rPr sz="1050" b="1" i="0">
                <a:solidFill>
                  <a:srgbClr val="F2C84B"/>
                </a:solidFill>
              </a:rPr>
              <a:t>TOOLKIT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0ECB6-094F-4DB4-AE49-5B620ECB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28650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2C84B"/>
                </a:solidFill>
              </a:defRPr>
            </a:pPr>
            <a:r>
              <a:rPr sz="900" b="1" i="0">
                <a:solidFill>
                  <a:srgbClr val="F2C84B"/>
                </a:solidFill>
              </a:rPr>
              <a:t>NEXT · ATTENTION</a:t>
            </a:r>
          </a:p>
        </p:txBody>
      </p:sp>
    </p:spTree>
    <p:extLst>
      <p:ext uri="{BB962C8B-B14F-4D97-AF65-F5344CB8AC3E}">
        <p14:creationId xmlns:p14="http://schemas.microsoft.com/office/powerpoint/2010/main" val="218527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2026-08-25T23:32:50.5880000Z</dcterms:created>
  <dcterms:modified xsi:type="dcterms:W3CDTF">2026-08-25T23:32:50.5880000Z</dcterms:modified>
</coreProperties>
</file>